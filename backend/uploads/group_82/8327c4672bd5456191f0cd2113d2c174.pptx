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Factual references: DPIIT Industrial Policy and 1991 Industrial Policy Statement; NDDB (Genesis / Anand Pattern / Operation Flood); PPP India and Ministry of Finance PPP materials; NITI Aayog / GMR / AERA material for Hyderabad Airport PPP; Companies Act, 2013 (Sections 4–6); Tata Group official business overview; Telangana TS-iPASS official portal; Startup India / DPIIT. Visuals are original vector diagrams created for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Business, Profession &amp; Employment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Three major forms of economic activity — compared through purpose, qualification, capital, risk and income.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2194560"/>
            <a:ext cx="1371600" cy="822959"/>
          </a:xfrm>
          <a:prstGeom prst="rect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947672"/>
            <a:ext cx="1371600" cy="2743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947672"/>
            <a:ext cx="137160" cy="2743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1947672"/>
            <a:ext cx="137160" cy="274320"/>
          </a:xfrm>
          <a:prstGeom prst="rect">
            <a:avLst/>
          </a:prstGeom>
          <a:solidFill>
            <a:srgbClr val="FFA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32519" y="1947672"/>
            <a:ext cx="137160" cy="2743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1947672"/>
            <a:ext cx="137160" cy="274320"/>
          </a:xfrm>
          <a:prstGeom prst="rect">
            <a:avLst/>
          </a:prstGeom>
          <a:solidFill>
            <a:srgbClr val="FFA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81159" y="1947672"/>
            <a:ext cx="137160" cy="2743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04120" y="1874519"/>
            <a:ext cx="307238" cy="307238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29800" y="2181758"/>
            <a:ext cx="855878" cy="526694"/>
          </a:xfrm>
          <a:prstGeom prst="roundRect">
            <a:avLst>
              <a:gd name="adj" fmla="val 18000"/>
            </a:avLst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52760" y="3152851"/>
            <a:ext cx="955547" cy="623620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10954512" y="2971800"/>
            <a:ext cx="352044" cy="352044"/>
          </a:xfrm>
          <a:prstGeom prst="arc">
            <a:avLst/>
          </a:prstGeom>
          <a:noFill/>
          <a:ln w="38100"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611880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FA652"/>
                </a:solidFill>
                <a:latin typeface="Aptos Display"/>
              </a:rP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611880"/>
            <a:ext cx="1188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2DCDB5"/>
                </a:solidFill>
                <a:latin typeface="Aptos Display"/>
              </a:rPr>
              <a:t>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3611880"/>
            <a:ext cx="1463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5297FF"/>
                </a:solidFill>
                <a:latin typeface="Aptos Display"/>
              </a:rPr>
              <a:t>SALARY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389120"/>
            <a:ext cx="32918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BUSINESS  •  PROFESSION  •  EMPLOYMENT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The three forms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42519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1801368"/>
            <a:ext cx="438912" cy="438912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801368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063240" cy="3337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Produces, buys, sells or exchanges goods/services with the objective of earning profit.
Typical example: a clothing store owner.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600200"/>
            <a:ext cx="3520440" cy="42519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35424" y="1801368"/>
            <a:ext cx="438912" cy="438912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1801368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PROFESSION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331720"/>
            <a:ext cx="3063240" cy="3337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Requires specialized education, training and professional competence.
Examples: doctors, lawyers, CAs, architects.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600200"/>
            <a:ext cx="3520440" cy="42519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0" y="1801368"/>
            <a:ext cx="438912" cy="438912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801368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EMPLOYMENT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331720"/>
            <a:ext cx="3063240" cy="3337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An individual works for an employer in return for wages or salary.
Example: software developer at a company.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16752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CORE IDEA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998464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 Display"/>
              </a:rPr>
              <a:t>Profit  •  Professional service  •  Regular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Comparison: where the three differ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10927080" cy="434340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830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2DCDB5"/>
                </a:solidFill>
                <a:latin typeface="Aptos Display"/>
              </a:rPr>
              <a:t>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2072" y="1783080"/>
            <a:ext cx="26974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0992" y="178308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Profession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2" y="178308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Employment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157984"/>
            <a:ext cx="10652760" cy="475488"/>
          </a:xfrm>
          <a:prstGeom prst="rect">
            <a:avLst/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21284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>
                <a:solidFill>
                  <a:srgbClr val="F5F8FC"/>
                </a:solidFill>
                <a:latin typeface="Aptos"/>
              </a:rPr>
              <a:t>Main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212848"/>
            <a:ext cx="2697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2212848"/>
            <a:ext cx="2788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Service + income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212848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Salary / income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76148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>
                <a:solidFill>
                  <a:srgbClr val="F5F8FC"/>
                </a:solidFill>
                <a:latin typeface="Aptos"/>
              </a:rPr>
              <a:t>Qualification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2761488"/>
            <a:ext cx="2697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Not always compulsory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761488"/>
            <a:ext cx="2788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Specialized qualification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761488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Depends on job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3255264"/>
            <a:ext cx="10652760" cy="475488"/>
          </a:xfrm>
          <a:prstGeom prst="rect">
            <a:avLst/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1012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>
                <a:solidFill>
                  <a:srgbClr val="F5F8FC"/>
                </a:solidFill>
                <a:latin typeface="Aptos"/>
              </a:rPr>
              <a:t>Capital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3310128"/>
            <a:ext cx="2697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Usually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3310128"/>
            <a:ext cx="2788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Limited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3310128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Generally not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85876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>
                <a:solidFill>
                  <a:srgbClr val="F5F8FC"/>
                </a:solidFill>
                <a:latin typeface="Aptos"/>
              </a:rPr>
              <a:t>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62072" y="3858768"/>
            <a:ext cx="2697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0992" y="3858768"/>
            <a:ext cx="2788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Moderate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3858768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Relatively 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352544"/>
            <a:ext cx="10652760" cy="475488"/>
          </a:xfrm>
          <a:prstGeom prst="rect">
            <a:avLst/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40740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>
                <a:solidFill>
                  <a:srgbClr val="F5F8FC"/>
                </a:solidFill>
                <a:latin typeface="Aptos"/>
              </a:rPr>
              <a:t>Income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62072" y="4407408"/>
            <a:ext cx="2697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Profit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0992" y="4407408"/>
            <a:ext cx="2788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Professional fees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4407408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Salary / wages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95604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1">
                <a:solidFill>
                  <a:srgbClr val="F5F8FC"/>
                </a:solidFill>
                <a:latin typeface="Aptos"/>
              </a:rPr>
              <a:t>Work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2072" y="4956048"/>
            <a:ext cx="2697479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Self-employed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4956048"/>
            <a:ext cx="2788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Usually self-employed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1352" y="4956048"/>
            <a:ext cx="3108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Works for employer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998464"/>
            <a:ext cx="1005840" cy="34747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6044183"/>
            <a:ext cx="8595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971032"/>
            <a:ext cx="9418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0">
                <a:solidFill>
                  <a:srgbClr val="F5F8FC"/>
                </a:solidFill>
                <a:latin typeface="Aptos"/>
              </a:rPr>
              <a:t>Business carries profit + risk; profession combines expertise + service; employment offers income through working for an employer.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Amul Cooperative Society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A landmark Indian cooperative model built around producer ownership, milk collection, processing and collective marketing.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FFA652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1325880"/>
            <a:ext cx="777240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76488" y="1197864"/>
            <a:ext cx="557784" cy="164592"/>
          </a:xfrm>
          <a:prstGeom prst="roundRect">
            <a:avLst>
              <a:gd name="adj" fmla="val 12000"/>
            </a:avLst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1709928"/>
            <a:ext cx="621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MILK</a:t>
            </a:r>
          </a:p>
        </p:txBody>
      </p:sp>
      <p:sp>
        <p:nvSpPr>
          <p:cNvPr id="12" name="Oval 11"/>
          <p:cNvSpPr/>
          <p:nvPr/>
        </p:nvSpPr>
        <p:spPr>
          <a:xfrm>
            <a:off x="9555480" y="1554480"/>
            <a:ext cx="438912" cy="438912"/>
          </a:xfrm>
          <a:prstGeom prst="ellipse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84663" y="1581912"/>
            <a:ext cx="256032" cy="256032"/>
          </a:xfrm>
          <a:prstGeom prst="ellipse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46919" y="1645920"/>
            <a:ext cx="64008" cy="64008"/>
          </a:xfrm>
          <a:prstGeom prst="ellipse">
            <a:avLst/>
          </a:prstGeom>
          <a:solidFill>
            <a:srgbClr val="0A1320"/>
          </a:solidFill>
          <a:ln>
            <a:solidFill>
              <a:srgbClr val="0A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6376" y="1645920"/>
            <a:ext cx="64008" cy="64008"/>
          </a:xfrm>
          <a:prstGeom prst="ellipse">
            <a:avLst/>
          </a:prstGeom>
          <a:solidFill>
            <a:srgbClr val="0A1320"/>
          </a:solidFill>
          <a:ln>
            <a:solidFill>
              <a:srgbClr val="0A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0" y="1554480"/>
            <a:ext cx="438912" cy="438912"/>
          </a:xfrm>
          <a:prstGeom prst="ellipse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70463" y="1581912"/>
            <a:ext cx="256032" cy="256032"/>
          </a:xfrm>
          <a:prstGeom prst="ellipse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19" y="1645920"/>
            <a:ext cx="64008" cy="64008"/>
          </a:xfrm>
          <a:prstGeom prst="ellipse">
            <a:avLst/>
          </a:prstGeom>
          <a:solidFill>
            <a:srgbClr val="0A1320"/>
          </a:solidFill>
          <a:ln>
            <a:solidFill>
              <a:srgbClr val="0A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52176" y="1645920"/>
            <a:ext cx="64008" cy="64008"/>
          </a:xfrm>
          <a:prstGeom prst="ellipse">
            <a:avLst/>
          </a:prstGeom>
          <a:solidFill>
            <a:srgbClr val="0A1320"/>
          </a:solidFill>
          <a:ln>
            <a:solidFill>
              <a:srgbClr val="0A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27080" y="1554480"/>
            <a:ext cx="438912" cy="438912"/>
          </a:xfrm>
          <a:prstGeom prst="ellipse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56263" y="1581912"/>
            <a:ext cx="256032" cy="256032"/>
          </a:xfrm>
          <a:prstGeom prst="ellipse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18519" y="1645920"/>
            <a:ext cx="64008" cy="64008"/>
          </a:xfrm>
          <a:prstGeom prst="ellipse">
            <a:avLst/>
          </a:prstGeom>
          <a:solidFill>
            <a:srgbClr val="0A1320"/>
          </a:solidFill>
          <a:ln>
            <a:solidFill>
              <a:srgbClr val="0A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37976" y="1645920"/>
            <a:ext cx="64008" cy="64008"/>
          </a:xfrm>
          <a:prstGeom prst="ellipse">
            <a:avLst/>
          </a:prstGeom>
          <a:solidFill>
            <a:srgbClr val="0A1320"/>
          </a:solidFill>
          <a:ln>
            <a:solidFill>
              <a:srgbClr val="0A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69748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AAB8C9"/>
                </a:solidFill>
                <a:latin typeface="Aptos Display"/>
              </a:rPr>
              <a:t>FARMERS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69748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AAB8C9"/>
                </a:solidFill>
                <a:latin typeface="Aptos Display"/>
              </a:rPr>
              <a:t>COLLECT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269748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AAB8C9"/>
                </a:solidFill>
                <a:latin typeface="Aptos Display"/>
              </a:rPr>
              <a:t>MARKET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429000"/>
            <a:ext cx="914400" cy="329184"/>
          </a:xfrm>
          <a:prstGeom prst="roundRect">
            <a:avLst>
              <a:gd name="adj" fmla="val 12000"/>
            </a:avLst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3493008"/>
            <a:ext cx="8595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50" b="1">
                <a:solidFill>
                  <a:srgbClr val="0A1320"/>
                </a:solidFill>
                <a:latin typeface="Aptos Display"/>
              </a:rPr>
              <a:t>VILLAGE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3867912"/>
            <a:ext cx="914400" cy="329184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0032" y="3931920"/>
            <a:ext cx="8595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50" b="1">
                <a:solidFill>
                  <a:srgbClr val="0A1320"/>
                </a:solidFill>
                <a:latin typeface="Aptos Display"/>
              </a:rPr>
              <a:t>DISTRICT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4159" y="4306824"/>
            <a:ext cx="914400" cy="329184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51592" y="4370831"/>
            <a:ext cx="85953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50" b="1">
                <a:solidFill>
                  <a:srgbClr val="0A1320"/>
                </a:solidFill>
                <a:latin typeface="Aptos Display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NDDB: Genesis / Anand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How the Amul model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NDDB: Anand Pattern / Operation Flood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37560" cy="34747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828800"/>
            <a:ext cx="566928" cy="566928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56692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847088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 Display"/>
              </a:rPr>
              <a:t>1  VILLAGE COOPERATIVE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51760"/>
            <a:ext cx="27889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>
                <a:solidFill>
                  <a:srgbClr val="AAB8C9"/>
                </a:solidFill>
                <a:latin typeface="Aptos"/>
              </a:rPr>
              <a:t>Farmers become members and supply milk.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1" y="2743200"/>
            <a:ext cx="320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600" b="1">
                <a:solidFill>
                  <a:srgbClr val="2DCDB5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337560" cy="34747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1828800"/>
            <a:ext cx="566928" cy="566928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847088"/>
            <a:ext cx="56692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47088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 Display"/>
              </a:rPr>
              <a:t>2  DISTRICT UNION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651760"/>
            <a:ext cx="27889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>
                <a:solidFill>
                  <a:srgbClr val="AAB8C9"/>
                </a:solidFill>
                <a:latin typeface="Aptos"/>
              </a:rPr>
              <a:t>Milk is collected, processed and converted into dairy products.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2743200"/>
            <a:ext cx="320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600" b="1">
                <a:solidFill>
                  <a:srgbClr val="2DCDB5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00200"/>
            <a:ext cx="3337560" cy="34747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1828800"/>
            <a:ext cx="566928" cy="566928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47088"/>
            <a:ext cx="56692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6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1847088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 Display"/>
              </a:rPr>
              <a:t>3  STATE FEDERATION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651760"/>
            <a:ext cx="27889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>
                <a:solidFill>
                  <a:srgbClr val="AAB8C9"/>
                </a:solidFill>
                <a:latin typeface="Aptos"/>
              </a:rPr>
              <a:t>Products are marketed and distributed under the Amul brand.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504688"/>
            <a:ext cx="8869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 Display"/>
              </a:rPr>
              <a:t>Producer ownership + professional management + collective marketing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Impact: from local cooperative to White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NDDB: Genesis / Operation Flood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83280" cy="36118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01368"/>
            <a:ext cx="438912" cy="438912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801368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FAIRER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2926080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The Anand model was created by dairy farmers to reduce exploitation by traders and middlemen.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600200"/>
            <a:ext cx="3383280" cy="36118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08576" y="1801368"/>
            <a:ext cx="438912" cy="438912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1801368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RURAL INCOME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331720"/>
            <a:ext cx="2926080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Cooperative dairying made milk a more stable source of cash income for many rural households.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1600200"/>
            <a:ext cx="3383280" cy="36118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30184" y="1801368"/>
            <a:ext cx="438912" cy="438912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1801368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NATIONAL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331720"/>
            <a:ext cx="2926080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NDDB's Operation Flood used the Anand pattern to build dairy cooperatives across India.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914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FFA652"/>
                </a:solidFill>
                <a:latin typeface="Aptos Display"/>
              </a:rPr>
              <a:t>1946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46811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0">
                <a:solidFill>
                  <a:srgbClr val="AAB8C9"/>
                </a:solidFill>
                <a:latin typeface="Aptos"/>
              </a:rPr>
              <a:t>Amul origins in Anand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40680"/>
            <a:ext cx="914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2DCDB5"/>
                </a:solidFill>
                <a:latin typeface="Aptos Display"/>
              </a:rPr>
              <a:t>1965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5468112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0">
                <a:solidFill>
                  <a:srgbClr val="AAB8C9"/>
                </a:solidFill>
                <a:latin typeface="Aptos"/>
              </a:rPr>
              <a:t>NDDB founded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440680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5297FF"/>
                </a:solidFill>
                <a:latin typeface="Aptos Display"/>
              </a:rPr>
              <a:t>1970–1996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5468112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0">
                <a:solidFill>
                  <a:srgbClr val="AAB8C9"/>
                </a:solidFill>
                <a:latin typeface="Aptos"/>
              </a:rPr>
              <a:t>Operation Flood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Evolution of Industrial Policies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A policy journey from a state-led mixed economy toward liberalization and a larger role for private initiative.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5297FF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1435608"/>
            <a:ext cx="3017520" cy="36576"/>
          </a:xfrm>
          <a:prstGeom prst="rect">
            <a:avLst/>
          </a:prstGeom>
          <a:solidFill>
            <a:srgbClr val="AA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64067" y="1307592"/>
            <a:ext cx="237744" cy="237744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5467" y="16459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011680"/>
            <a:ext cx="4724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Mixed economy</a:t>
            </a:r>
          </a:p>
        </p:txBody>
      </p:sp>
      <p:sp>
        <p:nvSpPr>
          <p:cNvPr id="13" name="Oval 12"/>
          <p:cNvSpPr/>
          <p:nvPr/>
        </p:nvSpPr>
        <p:spPr>
          <a:xfrm>
            <a:off x="8727948" y="1307592"/>
            <a:ext cx="237744" cy="237744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9348" y="16459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1728" y="2011680"/>
            <a:ext cx="4724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State-led</a:t>
            </a:r>
          </a:p>
        </p:txBody>
      </p:sp>
      <p:sp>
        <p:nvSpPr>
          <p:cNvPr id="16" name="Oval 15"/>
          <p:cNvSpPr/>
          <p:nvPr/>
        </p:nvSpPr>
        <p:spPr>
          <a:xfrm>
            <a:off x="9291828" y="1307592"/>
            <a:ext cx="237744" cy="237744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3228" y="16459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5608" y="2011680"/>
            <a:ext cx="4724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Small + controls</a:t>
            </a:r>
          </a:p>
        </p:txBody>
      </p:sp>
      <p:sp>
        <p:nvSpPr>
          <p:cNvPr id="19" name="Oval 18"/>
          <p:cNvSpPr/>
          <p:nvPr/>
        </p:nvSpPr>
        <p:spPr>
          <a:xfrm>
            <a:off x="9855708" y="1307592"/>
            <a:ext cx="237744" cy="237744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7108" y="16459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011680"/>
            <a:ext cx="4724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Decentralize</a:t>
            </a:r>
          </a:p>
        </p:txBody>
      </p:sp>
      <p:sp>
        <p:nvSpPr>
          <p:cNvPr id="22" name="Oval 21"/>
          <p:cNvSpPr/>
          <p:nvPr/>
        </p:nvSpPr>
        <p:spPr>
          <a:xfrm>
            <a:off x="10419588" y="1307592"/>
            <a:ext cx="237744" cy="237744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0988" y="16459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3368" y="2011680"/>
            <a:ext cx="4724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Modernize</a:t>
            </a:r>
          </a:p>
        </p:txBody>
      </p:sp>
      <p:sp>
        <p:nvSpPr>
          <p:cNvPr id="25" name="Oval 24"/>
          <p:cNvSpPr/>
          <p:nvPr/>
        </p:nvSpPr>
        <p:spPr>
          <a:xfrm>
            <a:off x="10983468" y="1307592"/>
            <a:ext cx="237744" cy="237744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54868" y="16459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7248" y="2011680"/>
            <a:ext cx="4724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Liberalize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DPIIT: Industrial Policy; 1991 Industrial Policy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1948 → 1980: building a mixed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DPIIT: Industrial Policy; 1991 Industrial Policy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892807"/>
            <a:ext cx="10241280" cy="36576"/>
          </a:xfrm>
          <a:prstGeom prst="rect">
            <a:avLst/>
          </a:prstGeom>
          <a:solidFill>
            <a:srgbClr val="AAB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64792" y="1764792"/>
            <a:ext cx="237744" cy="237744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21031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68880"/>
            <a:ext cx="2029967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State + private sectors</a:t>
            </a:r>
          </a:p>
        </p:txBody>
      </p:sp>
      <p:sp>
        <p:nvSpPr>
          <p:cNvPr id="12" name="Oval 11"/>
          <p:cNvSpPr/>
          <p:nvPr/>
        </p:nvSpPr>
        <p:spPr>
          <a:xfrm>
            <a:off x="3886200" y="1764792"/>
            <a:ext cx="237744" cy="237744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031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5" y="2468880"/>
            <a:ext cx="2029967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Public sector &amp; heavy industry</a:t>
            </a:r>
          </a:p>
        </p:txBody>
      </p:sp>
      <p:sp>
        <p:nvSpPr>
          <p:cNvPr id="15" name="Oval 14"/>
          <p:cNvSpPr/>
          <p:nvPr/>
        </p:nvSpPr>
        <p:spPr>
          <a:xfrm>
            <a:off x="6007608" y="1764792"/>
            <a:ext cx="237744" cy="237744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9008" y="21031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2468880"/>
            <a:ext cx="2029967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Small-scale focus</a:t>
            </a:r>
          </a:p>
        </p:txBody>
      </p:sp>
      <p:sp>
        <p:nvSpPr>
          <p:cNvPr id="18" name="Oval 17"/>
          <p:cNvSpPr/>
          <p:nvPr/>
        </p:nvSpPr>
        <p:spPr>
          <a:xfrm>
            <a:off x="8129015" y="1764792"/>
            <a:ext cx="237744" cy="237744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5" y="21031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1" y="2468880"/>
            <a:ext cx="2029967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Village &amp; rural industry</a:t>
            </a:r>
          </a:p>
        </p:txBody>
      </p:sp>
      <p:sp>
        <p:nvSpPr>
          <p:cNvPr id="21" name="Oval 20"/>
          <p:cNvSpPr/>
          <p:nvPr/>
        </p:nvSpPr>
        <p:spPr>
          <a:xfrm>
            <a:off x="10250424" y="1764792"/>
            <a:ext cx="237744" cy="237744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1824" y="2103120"/>
            <a:ext cx="69494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 Display"/>
              </a:rPr>
              <a:t>1980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68880"/>
            <a:ext cx="2029967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19" b="0">
                <a:solidFill>
                  <a:srgbClr val="AAB8C9"/>
                </a:solidFill>
                <a:latin typeface="Aptos"/>
              </a:rPr>
              <a:t>Modernization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154680"/>
            <a:ext cx="10607040" cy="2011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01568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5297FF"/>
                </a:solidFill>
                <a:latin typeface="Aptos Display"/>
              </a:rPr>
              <a:t>The policy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22191"/>
            <a:ext cx="9692640" cy="1143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1948 established broad contours and accepted roles for both public and private sectors.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1956 gave the State a predominant role and emphasized heavy industry and a socialist pattern.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1973 and 1977 increased attention to small-scale, village and rural industries.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1980 emphasized modernization, productivity and better capacity utilization.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1991: the major policy turning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DPIIT: Statement on Industrial Policy, 4 July 1991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5166360" cy="43891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097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FA652"/>
                </a:solidFill>
                <a:latin typeface="Aptos Display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4389120" cy="2286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Greater state direction of industrial development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Licensing was an important policy instrument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Public-sector role was prominent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Private initiative operated within a more regulated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72768"/>
            <a:ext cx="5166360" cy="438912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2DCDB5"/>
                </a:solidFill>
                <a:latin typeface="Aptos Display"/>
              </a:rPr>
              <a:t>1991 REFORMS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389120" cy="2560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Industrial licensing abolished for most industries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Public-sector monopoly reduced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Private-sector participation increased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Foreign investment and technology were encouraged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Disinvestment / restructuring of public enterprises promoted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971800"/>
            <a:ext cx="5029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800" b="1">
                <a:solidFill>
                  <a:srgbClr val="F5F8FC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Public–Private Partnership (PPP)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Long-term collaboration between government and private partners to deliver infrastructure or public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A177FF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1325880"/>
            <a:ext cx="1042415" cy="1042415"/>
          </a:xfrm>
          <a:prstGeom prst="rect">
            <a:avLst/>
          </a:prstGeom>
          <a:solidFill>
            <a:srgbClr val="A1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37499" y="1479499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00846" y="1479499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4193" y="1479499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37499" y="1742846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00846" y="1742846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4193" y="1742846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7499" y="2006193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00846" y="2006193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4193" y="2006193"/>
            <a:ext cx="120700" cy="120700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55480" y="1645920"/>
            <a:ext cx="1371600" cy="1645920"/>
          </a:xfrm>
          <a:prstGeom prst="rect">
            <a:avLst/>
          </a:prstGeom>
          <a:solidFill>
            <a:srgbClr val="2D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13848" y="1828800"/>
            <a:ext cx="54864" cy="201168"/>
          </a:xfrm>
          <a:prstGeom prst="rect">
            <a:avLst/>
          </a:prstGeom>
          <a:solidFill>
            <a:srgbClr val="F7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13848" y="2103120"/>
            <a:ext cx="54864" cy="201168"/>
          </a:xfrm>
          <a:prstGeom prst="rect">
            <a:avLst/>
          </a:prstGeom>
          <a:solidFill>
            <a:srgbClr val="F7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13848" y="2377440"/>
            <a:ext cx="54864" cy="201168"/>
          </a:xfrm>
          <a:prstGeom prst="rect">
            <a:avLst/>
          </a:prstGeom>
          <a:solidFill>
            <a:srgbClr val="F7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13848" y="2651760"/>
            <a:ext cx="54864" cy="201168"/>
          </a:xfrm>
          <a:prstGeom prst="rect">
            <a:avLst/>
          </a:prstGeom>
          <a:solidFill>
            <a:srgbClr val="F7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13848" y="2926080"/>
            <a:ext cx="54864" cy="201168"/>
          </a:xfrm>
          <a:prstGeom prst="rect">
            <a:avLst/>
          </a:prstGeom>
          <a:solidFill>
            <a:srgbClr val="F7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13848" y="3200400"/>
            <a:ext cx="54864" cy="201168"/>
          </a:xfrm>
          <a:prstGeom prst="rect">
            <a:avLst/>
          </a:prstGeom>
          <a:solidFill>
            <a:srgbClr val="F7D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 rot="1500000">
            <a:off x="10149840" y="3566160"/>
            <a:ext cx="603504" cy="274320"/>
          </a:xfrm>
          <a:prstGeom prst="round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 rot="20100000">
            <a:off x="10720425" y="3566160"/>
            <a:ext cx="603504" cy="274320"/>
          </a:xfrm>
          <a:prstGeom prst="roundRect">
            <a:avLst/>
          </a:prstGeom>
          <a:solidFill>
            <a:srgbClr val="FFA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10697" y="3511296"/>
            <a:ext cx="274320" cy="274320"/>
          </a:xfrm>
          <a:prstGeom prst="ellipse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452628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5297FF"/>
                </a:solidFill>
                <a:latin typeface="Aptos Display"/>
              </a:rPr>
              <a:t>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452628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FFA652"/>
                </a:solidFill>
                <a:latin typeface="Aptos Display"/>
              </a:rPr>
              <a:t>PRIVATE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983480"/>
            <a:ext cx="29260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AAB8C9"/>
                </a:solidFill>
                <a:latin typeface="Aptos Display"/>
              </a:rPr>
              <a:t>shared capital • expertise •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PPP India / Ministry of Finance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PPP models: how responsibility is shared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PPP India: Reference Guide for PPP Project Appraisal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37560" cy="41605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1847088"/>
            <a:ext cx="914400" cy="347472"/>
          </a:xfrm>
          <a:prstGeom prst="roundRect">
            <a:avLst>
              <a:gd name="adj" fmla="val 12000"/>
            </a:avLst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892807"/>
            <a:ext cx="7680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9572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 Display"/>
              </a:rPr>
              <a:t>Build → Operate →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54680"/>
            <a:ext cx="27889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Private partner builds and operates for a concession period, then transfers.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98348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RISK + RESPONSIBILITY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337560" cy="41605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5152" y="1847088"/>
            <a:ext cx="914400" cy="34747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1892807"/>
            <a:ext cx="7680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39572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 Display"/>
              </a:rPr>
              <a:t>Build → Own → Operate → Transfer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154680"/>
            <a:ext cx="27889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Private partner owns and operates during the defined period before transfer.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98348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RISK + RESPONSIBILITY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00200"/>
            <a:ext cx="3337560" cy="41605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48471" y="1847088"/>
            <a:ext cx="914400" cy="347472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1892807"/>
            <a:ext cx="7680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DBFOT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395728"/>
            <a:ext cx="27432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 Display"/>
              </a:rPr>
              <a:t>Design → Build → Finance → Operate → Transfer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3154680"/>
            <a:ext cx="278892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Private partner takes an integrated role across design, finance, construction and operations.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498348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RISK + RESPONSIBILITY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Example: Rajiv Gandhi International Airport, Hyderabad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GMR / AERA / NITI Aayog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6492240" cy="434340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4708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 Display"/>
              </a:rPr>
              <a:t>A real Indian PPP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5577840" cy="22402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Hyderabad's greenfield airport was developed under a PPP framework.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The project involved government and private-sector participation through a joint-venture structure.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NITI Aayog identifies the project as a BOOT-model PPP case.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The airport began operations in 2008 and has since expanded.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572768"/>
            <a:ext cx="4023360" cy="434340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2240280"/>
            <a:ext cx="3200400" cy="114300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487168"/>
            <a:ext cx="292608" cy="438912"/>
          </a:xfrm>
          <a:prstGeom prst="rect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67928" y="2487168"/>
            <a:ext cx="292608" cy="438912"/>
          </a:xfrm>
          <a:prstGeom prst="rect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43416" y="2487168"/>
            <a:ext cx="292608" cy="438912"/>
          </a:xfrm>
          <a:prstGeom prst="rect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18904" y="2487168"/>
            <a:ext cx="292608" cy="438912"/>
          </a:xfrm>
          <a:prstGeom prst="rect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94392" y="2487168"/>
            <a:ext cx="292608" cy="438912"/>
          </a:xfrm>
          <a:prstGeom prst="rect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69880" y="2487168"/>
            <a:ext cx="292608" cy="438912"/>
          </a:xfrm>
          <a:prstGeom prst="rect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pezoid 18"/>
          <p:cNvSpPr/>
          <p:nvPr/>
        </p:nvSpPr>
        <p:spPr>
          <a:xfrm>
            <a:off x="8183879" y="1938528"/>
            <a:ext cx="2651760" cy="411480"/>
          </a:xfrm>
          <a:prstGeom prst="trapezoid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3794760"/>
            <a:ext cx="3566160" cy="685800"/>
          </a:xfrm>
          <a:prstGeom prst="rect">
            <a:avLst/>
          </a:prstGeom>
          <a:solidFill>
            <a:srgbClr val="303A48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4096512"/>
            <a:ext cx="201168" cy="73152"/>
          </a:xfrm>
          <a:prstGeom prst="rect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39912" y="4096512"/>
            <a:ext cx="201168" cy="73152"/>
          </a:xfrm>
          <a:prstGeom prst="rect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78824" y="4096512"/>
            <a:ext cx="201168" cy="73152"/>
          </a:xfrm>
          <a:prstGeom prst="rect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17736" y="4096512"/>
            <a:ext cx="201168" cy="73152"/>
          </a:xfrm>
          <a:prstGeom prst="rect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56648" y="4096512"/>
            <a:ext cx="201168" cy="73152"/>
          </a:xfrm>
          <a:prstGeom prst="rect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95560" y="4096512"/>
            <a:ext cx="201168" cy="73152"/>
          </a:xfrm>
          <a:prstGeom prst="rect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34472" y="4096512"/>
            <a:ext cx="201168" cy="73152"/>
          </a:xfrm>
          <a:prstGeom prst="rect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800600"/>
            <a:ext cx="2926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 Display"/>
              </a:rPr>
              <a:t>HYDERABAD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230368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AAB8C9"/>
                </a:solidFill>
                <a:latin typeface="Aptos Display"/>
              </a:rPr>
              <a:t>Greenfield airport • PPP • BOOT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Managerial Skills &amp; Mintzberg's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Managers combine technical, human and conceptual skills while performing ten practical 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0" y="2148840"/>
            <a:ext cx="1005840" cy="100584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2404872"/>
            <a:ext cx="10058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1554480" cy="502920"/>
          </a:xfrm>
          <a:prstGeom prst="roundRect">
            <a:avLst>
              <a:gd name="adj" fmla="val 12000"/>
            </a:avLst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28016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Interpersonal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24160" y="1188720"/>
            <a:ext cx="1554480" cy="502920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0" y="128016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Informational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3474720"/>
            <a:ext cx="1554480" cy="50292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566160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Decisional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Mintzberg framework; standard management texts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Three managerial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37560" cy="4297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74519"/>
            <a:ext cx="640080" cy="640080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640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01952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TECHNICAL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27432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>
                <a:solidFill>
                  <a:srgbClr val="AAB8C9"/>
                </a:solidFill>
                <a:latin typeface="Aptos"/>
              </a:rPr>
              <a:t>Knowledge of specific methods, tools, technologies and processes.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5297FF"/>
                </a:solidFill>
                <a:latin typeface="Aptos Display"/>
              </a:rPr>
              <a:t>Example: IT manager understanding development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337560" cy="4297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1874519"/>
            <a:ext cx="640080" cy="64008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38528"/>
            <a:ext cx="640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79" y="1901952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HUMAN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743200"/>
            <a:ext cx="27432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>
                <a:solidFill>
                  <a:srgbClr val="AAB8C9"/>
                </a:solidFill>
                <a:latin typeface="Aptos"/>
              </a:rPr>
              <a:t>Ability to communicate, motivate, cooperate with and understand people.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70916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2DCDB5"/>
                </a:solidFill>
                <a:latin typeface="Aptos Display"/>
              </a:rPr>
              <a:t>Example: resolving team conflict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00200"/>
            <a:ext cx="3337560" cy="4297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60" y="1874519"/>
            <a:ext cx="640080" cy="640080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938528"/>
            <a:ext cx="640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01952"/>
            <a:ext cx="1920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CONCEPTUAL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43200"/>
            <a:ext cx="27432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>
                <a:solidFill>
                  <a:srgbClr val="AAB8C9"/>
                </a:solidFill>
                <a:latin typeface="Aptos"/>
              </a:rPr>
              <a:t>Ability to see the organization as a whole and connect activities.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70916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>
                <a:solidFill>
                  <a:srgbClr val="A177FF"/>
                </a:solidFill>
                <a:latin typeface="Aptos Display"/>
              </a:rPr>
              <a:t>Example: shaping long-term strategy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Mintzberg's 10 managerial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37560" cy="43891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47088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92807"/>
            <a:ext cx="16824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INTERPERSONAL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2514600"/>
            <a:ext cx="310896" cy="310896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542032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49631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Figurehead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3172968"/>
            <a:ext cx="310896" cy="310896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00399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154679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Leader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3831335"/>
            <a:ext cx="310896" cy="310896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858768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3813048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Liaison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600200"/>
            <a:ext cx="3337560" cy="43891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17720" y="1847088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1892807"/>
            <a:ext cx="16824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INFORMATIONAL</a:t>
            </a:r>
          </a:p>
        </p:txBody>
      </p:sp>
      <p:sp>
        <p:nvSpPr>
          <p:cNvPr id="22" name="Oval 21"/>
          <p:cNvSpPr/>
          <p:nvPr/>
        </p:nvSpPr>
        <p:spPr>
          <a:xfrm>
            <a:off x="4645152" y="2514600"/>
            <a:ext cx="310896" cy="310896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2542032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249631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Monitor</a:t>
            </a:r>
          </a:p>
        </p:txBody>
      </p:sp>
      <p:sp>
        <p:nvSpPr>
          <p:cNvPr id="25" name="Oval 24"/>
          <p:cNvSpPr/>
          <p:nvPr/>
        </p:nvSpPr>
        <p:spPr>
          <a:xfrm>
            <a:off x="4645152" y="3172968"/>
            <a:ext cx="310896" cy="310896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200399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3154679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Disseminator</a:t>
            </a:r>
          </a:p>
        </p:txBody>
      </p:sp>
      <p:sp>
        <p:nvSpPr>
          <p:cNvPr id="28" name="Oval 27"/>
          <p:cNvSpPr/>
          <p:nvPr/>
        </p:nvSpPr>
        <p:spPr>
          <a:xfrm>
            <a:off x="4645152" y="3831335"/>
            <a:ext cx="310896" cy="310896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3858768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813048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Spokesperson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1600200"/>
            <a:ext cx="3337560" cy="438912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21040" y="1847088"/>
            <a:ext cx="1828800" cy="34747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1892807"/>
            <a:ext cx="16824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DECISIONAL</a:t>
            </a:r>
          </a:p>
        </p:txBody>
      </p:sp>
      <p:sp>
        <p:nvSpPr>
          <p:cNvPr id="34" name="Oval 33"/>
          <p:cNvSpPr/>
          <p:nvPr/>
        </p:nvSpPr>
        <p:spPr>
          <a:xfrm>
            <a:off x="8348471" y="2514600"/>
            <a:ext cx="310896" cy="310896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1" y="2542032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5672" y="2496312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Entrepreneur</a:t>
            </a:r>
          </a:p>
        </p:txBody>
      </p:sp>
      <p:sp>
        <p:nvSpPr>
          <p:cNvPr id="37" name="Oval 36"/>
          <p:cNvSpPr/>
          <p:nvPr/>
        </p:nvSpPr>
        <p:spPr>
          <a:xfrm>
            <a:off x="8348471" y="3172968"/>
            <a:ext cx="310896" cy="310896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1" y="3200399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5672" y="3154679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Disturbance Handler</a:t>
            </a:r>
          </a:p>
        </p:txBody>
      </p:sp>
      <p:sp>
        <p:nvSpPr>
          <p:cNvPr id="40" name="Oval 39"/>
          <p:cNvSpPr/>
          <p:nvPr/>
        </p:nvSpPr>
        <p:spPr>
          <a:xfrm>
            <a:off x="8348471" y="3831335"/>
            <a:ext cx="310896" cy="310896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71" y="3858768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05672" y="3813048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Resource Allocator</a:t>
            </a:r>
          </a:p>
        </p:txBody>
      </p:sp>
      <p:sp>
        <p:nvSpPr>
          <p:cNvPr id="43" name="Oval 42"/>
          <p:cNvSpPr/>
          <p:nvPr/>
        </p:nvSpPr>
        <p:spPr>
          <a:xfrm>
            <a:off x="8348471" y="4489704"/>
            <a:ext cx="310896" cy="310896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1" y="4517136"/>
            <a:ext cx="3108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4471416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5F8FC"/>
                </a:solidFill>
                <a:latin typeface="Aptos Display"/>
              </a:rPr>
              <a:t>Negotiator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6053328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00" b="1">
                <a:solidFill>
                  <a:srgbClr val="AAB8C9"/>
                </a:solidFill>
                <a:latin typeface="Aptos Display"/>
              </a:rPr>
              <a:t>Mintzberg's framework describes what managers actually do in day-to-day organizational life.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MOA vs AOA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The Memorandum defines the company's scope; the Articles contain regulations for internal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FFA652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325880"/>
            <a:ext cx="921715" cy="1177747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28939" y="1556308"/>
            <a:ext cx="588873" cy="51206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28939" y="1748332"/>
            <a:ext cx="588873" cy="51206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28939" y="1940356"/>
            <a:ext cx="588873" cy="51206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28939" y="2132380"/>
            <a:ext cx="588873" cy="51206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1325880"/>
            <a:ext cx="921715" cy="1177747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12019" y="1556308"/>
            <a:ext cx="588873" cy="51206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12019" y="1748332"/>
            <a:ext cx="588873" cy="51206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12019" y="1940356"/>
            <a:ext cx="588873" cy="51206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12019" y="2132380"/>
            <a:ext cx="588873" cy="51206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MOA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377440"/>
            <a:ext cx="1280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2DCDB5"/>
                </a:solidFill>
                <a:latin typeface="Aptos Display"/>
              </a:rPr>
              <a:t>AOA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0896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AAB8C9"/>
                </a:solidFill>
                <a:latin typeface="Aptos Display"/>
              </a:rPr>
              <a:t>WHAT?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310896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AAB8C9"/>
                </a:solidFill>
                <a:latin typeface="Aptos Display"/>
              </a:rPr>
              <a:t>HOW?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Companies Act, 2013 — Sections 4 &amp;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MOA and AOA: the core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Companies Act, 2013 — Sections 4 &amp;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12080" cy="434340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389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>
                <a:solidFill>
                  <a:srgbClr val="FFA652"/>
                </a:solidFill>
                <a:latin typeface="Aptos Display"/>
              </a:rPr>
              <a:t>MEMORANDUM OF ASSOCIATION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4348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Defines the fundamental conditions and scope within which the company operates.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4297680" cy="1645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Name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Registered office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Objects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Liability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Capital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Subscription / association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212080" cy="434340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4297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>
                <a:solidFill>
                  <a:srgbClr val="2DCDB5"/>
                </a:solidFill>
                <a:latin typeface="Aptos Display"/>
              </a:rPr>
              <a:t>ARTICLES OF ASSOCIATION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443484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Contains regulations for the internal management of the company.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83280"/>
            <a:ext cx="4297680" cy="1645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Share transfer rules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Directors and their powers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Meetings and voting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Dividends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Accounts and audit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30">
                <a:solidFill>
                  <a:srgbClr val="F5F8FC"/>
                </a:solidFill>
                <a:latin typeface="Aptos"/>
              </a:defRPr>
            </a:pPr>
            <a:r>
              <a:t>• Borrowing powers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Comparison: scope vs internal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Companies Act, 2013 — Sections 4, 5 &amp;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0789920" cy="4297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560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2DCDB5"/>
                </a:solidFill>
                <a:latin typeface="Aptos Display"/>
              </a:rPr>
              <a:t>BASIS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8288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MOA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828800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AOA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258568"/>
            <a:ext cx="10424160" cy="502920"/>
          </a:xfrm>
          <a:prstGeom prst="rect">
            <a:avLst/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"/>
              </a:rPr>
              <a:t>Meaning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31720"/>
            <a:ext cx="3154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Defines objectives / powers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331720"/>
            <a:ext cx="3246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Defines internal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"/>
              </a:rPr>
              <a:t>Relationship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944368"/>
            <a:ext cx="3154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Company with outsiders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944368"/>
            <a:ext cx="3246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Company with members/directors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83863"/>
            <a:ext cx="10424160" cy="502920"/>
          </a:xfrm>
          <a:prstGeom prst="rect">
            <a:avLst/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57015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"/>
              </a:rPr>
              <a:t>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557015"/>
            <a:ext cx="3154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Fundamental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557015"/>
            <a:ext cx="3246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Subordinate to MOA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69664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"/>
              </a:rPr>
              <a:t>Alteration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169664"/>
            <a:ext cx="3154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Generally more difficult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169664"/>
            <a:ext cx="3246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Relatively easier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709160"/>
            <a:ext cx="10424160" cy="502920"/>
          </a:xfrm>
          <a:prstGeom prst="rect">
            <a:avLst/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82312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"/>
              </a:rPr>
              <a:t>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782312"/>
            <a:ext cx="31546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What the company can 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782312"/>
            <a:ext cx="32461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How the company is managed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6692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7150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Memory trick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5650992"/>
            <a:ext cx="8046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 Display"/>
              </a:rPr>
              <a:t>MOA = WHAT the company may do  |  AOA = HOW it manages itself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Functions of Management — Tata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Planning, organizing, staffing, directing, coordinating and controlling can be seen across a diversified group such as Tata.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5297FF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722729"/>
            <a:ext cx="1207008" cy="603504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8138160" y="1426464"/>
            <a:ext cx="460857" cy="384048"/>
          </a:xfrm>
          <a:prstGeom prst="triangle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11235" y="1426464"/>
            <a:ext cx="460857" cy="384048"/>
          </a:xfrm>
          <a:prstGeom prst="triangle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8884310" y="1426464"/>
            <a:ext cx="460857" cy="384048"/>
          </a:xfrm>
          <a:prstGeom prst="triangle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46920" y="1280160"/>
            <a:ext cx="998981" cy="998981"/>
          </a:xfrm>
          <a:prstGeom prst="rect">
            <a:avLst/>
          </a:prstGeom>
          <a:solidFill>
            <a:srgbClr val="A1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94138" y="1427378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46512" y="1427378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98887" y="1427378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4138" y="1679752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46512" y="1679752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98887" y="1679752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94138" y="1932127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46512" y="1932127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298887" y="1932127"/>
            <a:ext cx="115671" cy="115671"/>
          </a:xfrm>
          <a:prstGeom prst="rect">
            <a:avLst/>
          </a:prstGeom>
          <a:solidFill>
            <a:srgbClr val="0A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44200" y="2880360"/>
            <a:ext cx="502920" cy="502920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44200" y="288036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700" b="1">
                <a:solidFill>
                  <a:srgbClr val="0A1320"/>
                </a:solidFill>
                <a:latin typeface="Aptos Display"/>
              </a:rPr>
              <a:t>₹</a:t>
            </a:r>
          </a:p>
        </p:txBody>
      </p:sp>
      <p:sp>
        <p:nvSpPr>
          <p:cNvPr id="25" name="Oval 24"/>
          <p:cNvSpPr/>
          <p:nvPr/>
        </p:nvSpPr>
        <p:spPr>
          <a:xfrm>
            <a:off x="10981944" y="2953512"/>
            <a:ext cx="502920" cy="502920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81944" y="295351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700" b="1">
                <a:solidFill>
                  <a:srgbClr val="0A1320"/>
                </a:solidFill>
                <a:latin typeface="Aptos Display"/>
              </a:rPr>
              <a:t>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931920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5297FF"/>
                </a:solidFill>
                <a:latin typeface="Aptos Display"/>
              </a:rPr>
              <a:t>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93192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A177FF"/>
                </a:solidFill>
                <a:latin typeface="Aptos Display"/>
              </a:rPr>
              <a:t>ORGANIZE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3931920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64D289"/>
                </a:solidFill>
                <a:latin typeface="Aptos Display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Tata Group: About / Business Overview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Six functions of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Tata Group: Business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01368"/>
            <a:ext cx="438912" cy="438912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19656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8308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 Display"/>
              </a:rPr>
              <a:t>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0008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Set objectives and decide how to achieve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1801368"/>
            <a:ext cx="438912" cy="438912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19656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178308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 Display"/>
              </a:rPr>
              <a:t>ORGANIZING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350008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Arrange resources, responsibilities and authority.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93608" y="1801368"/>
            <a:ext cx="438912" cy="438912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819656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78308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 Display"/>
              </a:rPr>
              <a:t>STAFFING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50008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Recruit, train, develop and retain people.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" y="3858768"/>
            <a:ext cx="438912" cy="438912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877056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84048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 Display"/>
              </a:rPr>
              <a:t>DIRECTING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407408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Lead, motivate, communicate and guide employees.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90288" y="3858768"/>
            <a:ext cx="438912" cy="438912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877056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59" y="384048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 Display"/>
              </a:rPr>
              <a:t>COORDINATING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407408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Align departments and business units toward common goals.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93608" y="3858768"/>
            <a:ext cx="438912" cy="438912"/>
          </a:xfrm>
          <a:prstGeom prst="ellipse">
            <a:avLst/>
          </a:prstGeom>
          <a:solidFill>
            <a:srgbClr val="F66969"/>
          </a:solidFill>
          <a:ln>
            <a:solidFill>
              <a:srgbClr val="F6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3877056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84048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>
                <a:solidFill>
                  <a:srgbClr val="F5F8FC"/>
                </a:solidFill>
                <a:latin typeface="Aptos Display"/>
              </a:rPr>
              <a:t>CONTROLLING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407408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Compare performance with plans and correct deviations.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Tata as a management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Tata Group: Business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6400800" cy="434340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3474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 Display"/>
              </a:rPr>
              <a:t>Why Tata is a useful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5486400" cy="22860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Tata is a diversified group with companies across technology, steel, automotive, consumer &amp; retail, infrastructure, financial services and other sectors.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Each Tata company operates independently under its own board, making coordination and governance important at group level.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Management functions appear repeatedly: strategy, resource allocation, staffing, leadership, coordination and performance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00200"/>
            <a:ext cx="4114800" cy="434340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0" y="2743200"/>
            <a:ext cx="1097280" cy="109728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3072384"/>
            <a:ext cx="1097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A1320"/>
                </a:solidFill>
                <a:latin typeface="Aptos Display"/>
              </a:rPr>
              <a:t>TATA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874519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965960"/>
            <a:ext cx="1234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TECH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1874519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965960"/>
            <a:ext cx="1234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STEEL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1605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4251959"/>
            <a:ext cx="1234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1605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4251959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CONSUMER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Trade &amp; Aids to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Trade connects producers and consumers; transport, banking, insurance, warehousing, communication and advertising make the exchange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FFA652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801368"/>
            <a:ext cx="1005840" cy="502920"/>
          </a:xfrm>
          <a:prstGeom prst="rect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8046720" y="1554480"/>
            <a:ext cx="384048" cy="320040"/>
          </a:xfrm>
          <a:prstGeom prst="triangle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357616" y="1554480"/>
            <a:ext cx="384048" cy="320040"/>
          </a:xfrm>
          <a:prstGeom prst="triangle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8668512" y="1554480"/>
            <a:ext cx="384048" cy="320040"/>
          </a:xfrm>
          <a:prstGeom prst="triangle">
            <a:avLst/>
          </a:prstGeom>
          <a:solidFill>
            <a:srgbClr val="52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20" y="2148840"/>
            <a:ext cx="777240" cy="384048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0" y="2240279"/>
            <a:ext cx="320040" cy="292608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54312" y="2468880"/>
            <a:ext cx="164592" cy="164592"/>
          </a:xfrm>
          <a:prstGeom prst="ellipse">
            <a:avLst/>
          </a:prstGeom>
          <a:solidFill>
            <a:srgbClr val="0A1320"/>
          </a:solidFill>
          <a:ln>
            <a:solidFill>
              <a:srgbClr val="0A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39528" y="2468880"/>
            <a:ext cx="164592" cy="164592"/>
          </a:xfrm>
          <a:prstGeom prst="ellipse">
            <a:avLst/>
          </a:prstGeom>
          <a:solidFill>
            <a:srgbClr val="0A1320"/>
          </a:solidFill>
          <a:ln>
            <a:solidFill>
              <a:srgbClr val="0A1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24160" y="1783080"/>
            <a:ext cx="914400" cy="548640"/>
          </a:xfrm>
          <a:prstGeom prst="rect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24160" y="1618488"/>
            <a:ext cx="91440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24160" y="1618488"/>
            <a:ext cx="91440" cy="18288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07040" y="1618488"/>
            <a:ext cx="91440" cy="182880"/>
          </a:xfrm>
          <a:prstGeom prst="rect">
            <a:avLst/>
          </a:prstGeom>
          <a:solidFill>
            <a:srgbClr val="FFA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89920" y="1618488"/>
            <a:ext cx="91440" cy="18288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1618488"/>
            <a:ext cx="91440" cy="182880"/>
          </a:xfrm>
          <a:prstGeom prst="rect">
            <a:avLst/>
          </a:prstGeom>
          <a:solidFill>
            <a:srgbClr val="FFA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55680" y="1618488"/>
            <a:ext cx="91440" cy="18288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97180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AAB8C9"/>
                </a:solidFill>
                <a:latin typeface="Aptos Display"/>
              </a:rPr>
              <a:t>PRODUCER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971800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AAB8C9"/>
                </a:solidFill>
                <a:latin typeface="Aptos Display"/>
              </a:rPr>
              <a:t>TRANSPORT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971800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AAB8C9"/>
                </a:solidFill>
                <a:latin typeface="Aptos Display"/>
              </a:rPr>
              <a:t>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05740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2DCDB5"/>
                </a:solidFill>
                <a:latin typeface="Aptos Display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05740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2DCDB5"/>
                </a:solidFill>
                <a:latin typeface="Aptos Display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Standard Business Studies concepts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Trade: moving value from producer to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37560" cy="42519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801368"/>
            <a:ext cx="438912" cy="438912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801368"/>
            <a:ext cx="23774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INTERNAL TRADE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2880360" cy="3337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Trade carried out within the country.
• Wholesale
• Retail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600200"/>
            <a:ext cx="3337560" cy="42519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1801368"/>
            <a:ext cx="438912" cy="438912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801368"/>
            <a:ext cx="23774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EXTERNAL TRADE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2880360" cy="3337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Trade between countries.
• Imports
• Exports
• International markets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600200"/>
            <a:ext cx="3337560" cy="42519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48472" y="1801368"/>
            <a:ext cx="438912" cy="438912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810512"/>
            <a:ext cx="4389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1801368"/>
            <a:ext cx="23774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 Display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331720"/>
            <a:ext cx="2880360" cy="3337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0">
                <a:solidFill>
                  <a:srgbClr val="AAB8C9"/>
                </a:solidFill>
                <a:latin typeface="Aptos"/>
              </a:rPr>
              <a:t>Trade expands markets, encourages specialization, raises production and improves consumer choice.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Aids to trade: the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801368"/>
            <a:ext cx="411480" cy="411480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196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Moves goods and 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1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1">
                <a:solidFill>
                  <a:srgbClr val="5297FF"/>
                </a:solidFill>
                <a:latin typeface="Aptos Display"/>
              </a:rPr>
              <a:t>Road • Rail • Sea • Air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1801368"/>
            <a:ext cx="411480" cy="411480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196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WAREHOUSING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25856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Stores goods until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79191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1">
                <a:solidFill>
                  <a:srgbClr val="FFA652"/>
                </a:solidFill>
                <a:latin typeface="Aptos Display"/>
              </a:rPr>
              <a:t>Protects availability across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93608" y="1801368"/>
            <a:ext cx="411480" cy="41148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196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BANKING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25856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Enables finance and 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79191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1">
                <a:solidFill>
                  <a:srgbClr val="2DCDB5"/>
                </a:solidFill>
                <a:latin typeface="Aptos Display"/>
              </a:rPr>
              <a:t>Loans • deposits • credit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6968" y="3858768"/>
            <a:ext cx="411480" cy="411480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877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7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1596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Manages business 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36592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1">
                <a:solidFill>
                  <a:srgbClr val="A177FF"/>
                </a:solidFill>
                <a:latin typeface="Aptos Display"/>
              </a:rPr>
              <a:t>Fire • theft • accidents • transit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90288" y="3858768"/>
            <a:ext cx="411480" cy="411480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3877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COMMUNICATION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31596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Moves information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736592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1">
                <a:solidFill>
                  <a:srgbClr val="64D289"/>
                </a:solidFill>
                <a:latin typeface="Aptos Display"/>
              </a:rPr>
              <a:t>Buyer • seller • supplier coordination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93608" y="3858768"/>
            <a:ext cx="411480" cy="411480"/>
          </a:xfrm>
          <a:prstGeom prst="ellipse">
            <a:avLst/>
          </a:prstGeom>
          <a:solidFill>
            <a:srgbClr val="F66969"/>
          </a:solidFill>
          <a:ln>
            <a:solidFill>
              <a:srgbClr val="F6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3877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2248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 Display"/>
              </a:rPr>
              <a:t>ADVERTISING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31596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>
                <a:solidFill>
                  <a:srgbClr val="AAB8C9"/>
                </a:solidFill>
                <a:latin typeface="Aptos"/>
              </a:rPr>
              <a:t>Creates awareness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736592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60" b="1">
                <a:solidFill>
                  <a:srgbClr val="F66969"/>
                </a:solidFill>
                <a:latin typeface="Aptos Display"/>
              </a:rPr>
              <a:t>Promotion • information • demand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Role of Entrepreneurship in Economic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Entrepreneurs identify opportunities, take risks, mobilize resources and create economic and social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64D289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64040" y="1188720"/>
            <a:ext cx="628650" cy="628650"/>
          </a:xfrm>
          <a:prstGeom prst="ellipse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12630" y="1737360"/>
            <a:ext cx="342900" cy="205739"/>
          </a:xfrm>
          <a:prstGeom prst="rect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15400" y="2651760"/>
            <a:ext cx="1920240" cy="192024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200400"/>
            <a:ext cx="19202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>
                <a:solidFill>
                  <a:srgbClr val="0A1320"/>
                </a:solidFill>
                <a:latin typeface="Aptos Display"/>
              </a:rPr>
              <a:t>IDEA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40280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331720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50" b="1">
                <a:solidFill>
                  <a:srgbClr val="0A1320"/>
                </a:solidFill>
                <a:latin typeface="Aptos Display"/>
              </a:rPr>
              <a:t>JOBS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52760" y="2240280"/>
            <a:ext cx="1645920" cy="438912"/>
          </a:xfrm>
          <a:prstGeom prst="roundRect">
            <a:avLst>
              <a:gd name="adj" fmla="val 12000"/>
            </a:avLst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2760" y="2331720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50" b="1">
                <a:solidFill>
                  <a:srgbClr val="0A1320"/>
                </a:solidFill>
                <a:latin typeface="Aptos Display"/>
              </a:rPr>
              <a:t>INNOVATION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617720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709159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50" b="1">
                <a:solidFill>
                  <a:srgbClr val="0A1320"/>
                </a:solidFill>
                <a:latin typeface="Aptos Display"/>
              </a:rPr>
              <a:t>INVESTMENT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44200" y="4617720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44200" y="4709159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850" b="1">
                <a:solidFill>
                  <a:srgbClr val="0A1320"/>
                </a:solidFill>
                <a:latin typeface="Aptos Display"/>
              </a:rPr>
              <a:t>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Startup India / DPIIT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How entrepreneurship drives the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Startup India / DPIIT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5297FF"/>
                </a:solidFill>
                <a:latin typeface="Aptos Display"/>
              </a:rPr>
              <a:t>EMPLOYMENT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New ventures create direct and indirect jobs.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288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2DCDB5"/>
                </a:solidFill>
                <a:latin typeface="Aptos Display"/>
              </a:rPr>
              <a:t>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New products, services, technologies and business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FA652"/>
                </a:solidFill>
                <a:latin typeface="Aptos Display"/>
              </a:rPr>
              <a:t>CAPITAL 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Savings and finance are directed into productive activity.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A177FF"/>
                </a:solidFill>
                <a:latin typeface="Aptos Display"/>
              </a:rPr>
              <a:t>RESOURCE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Land, labour, capital, technology and management are combined.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8862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64D289"/>
                </a:solidFill>
                <a:latin typeface="Aptos Display"/>
              </a:rPr>
              <a:t>REGIONAL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43484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Businesses can stimulate growth in rural and developing regions.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88620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20" b="1">
                <a:solidFill>
                  <a:srgbClr val="F66969"/>
                </a:solidFill>
                <a:latin typeface="Aptos Display"/>
              </a:rPr>
              <a:t>NATIONAL INCOME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434840"/>
            <a:ext cx="27432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AAB8C9"/>
                </a:solidFill>
                <a:latin typeface="Aptos"/>
              </a:rPr>
              <a:t>Higher production and business activity contribute to economic output.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Entrepreneurship also creates social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Startup India / DPIIT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0789920" cy="4297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92040" y="2331720"/>
            <a:ext cx="2011680" cy="201168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743200"/>
            <a:ext cx="20116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0A1320"/>
                </a:solidFill>
                <a:latin typeface="Aptos Display"/>
              </a:rPr>
              <a:t>ENTRE-
PRENEUR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828800"/>
            <a:ext cx="1920240" cy="594360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96596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Better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828800"/>
            <a:ext cx="1920240" cy="59436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96596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Exports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17720"/>
            <a:ext cx="2240280" cy="594360"/>
          </a:xfrm>
          <a:prstGeom prst="roundRect">
            <a:avLst>
              <a:gd name="adj" fmla="val 12000"/>
            </a:avLst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Higher living standards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4617720"/>
            <a:ext cx="1920240" cy="594360"/>
          </a:xfrm>
          <a:prstGeom prst="roundRect">
            <a:avLst>
              <a:gd name="adj" fmla="val 12000"/>
            </a:avLst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475488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Social innovation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86400"/>
            <a:ext cx="8412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>
                <a:solidFill>
                  <a:srgbClr val="AAB8C9"/>
                </a:solidFill>
                <a:latin typeface="Aptos Display"/>
              </a:rPr>
              <a:t>Examples include solutions in education, healthcare, agriculture, digital services and financial inclusion.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Sole Proprietorship — Advantages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A business owned, managed and controlled by one person: simple and flexible, but with unlimited liability and limited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FFA652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0" y="1371600"/>
            <a:ext cx="358444" cy="358444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1730044"/>
            <a:ext cx="998524" cy="614476"/>
          </a:xfrm>
          <a:prstGeom prst="roundRect">
            <a:avLst>
              <a:gd name="adj" fmla="val 18000"/>
            </a:avLst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3273552"/>
            <a:ext cx="1005840" cy="603504"/>
          </a:xfrm>
          <a:prstGeom prst="rect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092500"/>
            <a:ext cx="1005840" cy="2011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092500"/>
            <a:ext cx="100584" cy="201168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7888" y="3092500"/>
            <a:ext cx="100584" cy="201168"/>
          </a:xfrm>
          <a:prstGeom prst="rect">
            <a:avLst/>
          </a:prstGeom>
          <a:solidFill>
            <a:srgbClr val="FFA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49056" y="3092500"/>
            <a:ext cx="100584" cy="201168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50224" y="3092500"/>
            <a:ext cx="100584" cy="201168"/>
          </a:xfrm>
          <a:prstGeom prst="rect">
            <a:avLst/>
          </a:prstGeom>
          <a:solidFill>
            <a:srgbClr val="FFA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51392" y="3092500"/>
            <a:ext cx="100584" cy="201168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2971800"/>
            <a:ext cx="502920" cy="502920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297180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700" b="1">
                <a:solidFill>
                  <a:srgbClr val="0A1320"/>
                </a:solidFill>
                <a:latin typeface="Aptos Display"/>
              </a:rPr>
              <a:t>₹</a:t>
            </a:r>
          </a:p>
        </p:txBody>
      </p:sp>
      <p:sp>
        <p:nvSpPr>
          <p:cNvPr id="20" name="Oval 19"/>
          <p:cNvSpPr/>
          <p:nvPr/>
        </p:nvSpPr>
        <p:spPr>
          <a:xfrm>
            <a:off x="10753344" y="3044952"/>
            <a:ext cx="502920" cy="502920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53344" y="3044952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700" b="1">
                <a:solidFill>
                  <a:srgbClr val="0A1320"/>
                </a:solidFill>
                <a:latin typeface="Aptos Display"/>
              </a:rPr>
              <a:t>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06240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 Display"/>
              </a:rPr>
              <a:t>ONE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709160"/>
            <a:ext cx="3474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AAB8C9"/>
                </a:solidFill>
                <a:latin typeface="Aptos Display"/>
              </a:rPr>
              <a:t>CONTROL  •  PROFIT  • 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Standard Business Studies concepts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Advantages: why people choose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801368"/>
            <a:ext cx="411480" cy="41148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A1320"/>
                </a:solidFill>
                <a:latin typeface="Aptos Display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F5F8FC"/>
                </a:solidFill>
                <a:latin typeface="Aptos Display"/>
              </a:rPr>
              <a:t>EASY 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Fewer formalities than many other business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0288" y="1801368"/>
            <a:ext cx="411480" cy="411480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013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A1320"/>
                </a:solidFill>
                <a:latin typeface="Aptos Display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F5F8FC"/>
                </a:solidFill>
                <a:latin typeface="Aptos Display"/>
              </a:rPr>
              <a:t>COMPLETE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86000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Owner makes the key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93608" y="1801368"/>
            <a:ext cx="411480" cy="411480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8013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A1320"/>
                </a:solidFill>
                <a:latin typeface="Aptos Display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F5F8FC"/>
                </a:solidFill>
                <a:latin typeface="Aptos Display"/>
              </a:rPr>
              <a:t>QUICK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No need to consult multiple owners.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" y="3858768"/>
            <a:ext cx="411480" cy="411480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8587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A1320"/>
                </a:solidFill>
                <a:latin typeface="Aptos Display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F5F8FC"/>
                </a:solidFill>
                <a:latin typeface="Aptos Display"/>
              </a:rPr>
              <a:t>RETENTION OF PROFITS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Owner receives the remaining business profit.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3858768"/>
            <a:ext cx="411480" cy="411480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8587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A1320"/>
                </a:solidFill>
                <a:latin typeface="Aptos Display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F5F8FC"/>
                </a:solidFill>
                <a:latin typeface="Aptos Display"/>
              </a:rPr>
              <a:t>BUSINESS SECRECY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343400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Information can remain concentrated with the owner.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93608" y="3858768"/>
            <a:ext cx="411480" cy="411480"/>
          </a:xfrm>
          <a:prstGeom prst="ellipse">
            <a:avLst/>
          </a:prstGeom>
          <a:solidFill>
            <a:srgbClr val="F66969"/>
          </a:solidFill>
          <a:ln>
            <a:solidFill>
              <a:srgbClr val="F6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38587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>
                <a:solidFill>
                  <a:srgbClr val="0A1320"/>
                </a:solidFill>
                <a:latin typeface="Aptos Display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70" b="1">
                <a:solidFill>
                  <a:srgbClr val="F5F8FC"/>
                </a:solidFill>
                <a:latin typeface="Aptos Display"/>
              </a:rPr>
              <a:t>PERSONAL ATTENTION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43400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60" b="0">
                <a:solidFill>
                  <a:srgbClr val="AAB8C9"/>
                </a:solidFill>
                <a:latin typeface="Aptos"/>
              </a:rPr>
              <a:t>Close relationships with customers and employees.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Limitations: the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801368"/>
            <a:ext cx="411480" cy="411480"/>
          </a:xfrm>
          <a:prstGeom prst="ellipse">
            <a:avLst/>
          </a:prstGeom>
          <a:solidFill>
            <a:srgbClr val="F66969"/>
          </a:solidFill>
          <a:ln>
            <a:solidFill>
              <a:srgbClr val="F6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 Display"/>
              </a:rPr>
              <a:t>UNLIMITED 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2743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AAB8C9"/>
                </a:solidFill>
                <a:latin typeface="Aptos"/>
              </a:rPr>
              <a:t>Personal assets may be used to meet business liabilities.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0288" y="1801368"/>
            <a:ext cx="411480" cy="411480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013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 Display"/>
              </a:rPr>
              <a:t>LIMITED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86000"/>
            <a:ext cx="2743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AAB8C9"/>
                </a:solidFill>
                <a:latin typeface="Aptos"/>
              </a:rPr>
              <a:t>Resources depend heavily on the owner's funds and borrowing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93608" y="1801368"/>
            <a:ext cx="411480" cy="411480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8013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 Display"/>
              </a:rPr>
              <a:t>LIMITED EXPERTISE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2743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AAB8C9"/>
                </a:solidFill>
                <a:latin typeface="Aptos"/>
              </a:rPr>
              <a:t>One person may not be expert in finance, marketing, technology and management.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" y="3858768"/>
            <a:ext cx="411480" cy="411480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8587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 Display"/>
              </a:rPr>
              <a:t>LACK OF CONTINUITY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2743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AAB8C9"/>
                </a:solidFill>
                <a:latin typeface="Aptos"/>
              </a:rPr>
              <a:t>Death, incapacity or withdrawal of the owner can affect continuity.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3858768"/>
            <a:ext cx="411480" cy="411480"/>
          </a:xfrm>
          <a:prstGeom prst="ellipse">
            <a:avLst/>
          </a:prstGeom>
          <a:solidFill>
            <a:srgbClr val="F7D35E"/>
          </a:solidFill>
          <a:ln>
            <a:solidFill>
              <a:srgbClr val="F7D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8587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 Display"/>
              </a:rPr>
              <a:t>UNLIMITED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343400"/>
            <a:ext cx="2743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AAB8C9"/>
                </a:solidFill>
                <a:latin typeface="Aptos"/>
              </a:rPr>
              <a:t>The owner personally bears business losses.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93608" y="3858768"/>
            <a:ext cx="411480" cy="41148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3858768"/>
            <a:ext cx="411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 Display"/>
              </a:rPr>
              <a:t>LIMITED 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43400"/>
            <a:ext cx="2743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40" b="0">
                <a:solidFill>
                  <a:srgbClr val="AAB8C9"/>
                </a:solidFill>
                <a:latin typeface="Aptos"/>
              </a:rPr>
              <a:t>Large-scale growth can be difficult without more capital and management resources.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6766560" cy="544068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" y="8686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108813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TOPIC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576072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 Display"/>
              </a:rPr>
              <a:t>Telangana Industrial Policy — TS-iPASS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44368"/>
            <a:ext cx="5440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0">
                <a:solidFill>
                  <a:srgbClr val="AAB8C9"/>
                </a:solidFill>
                <a:latin typeface="Aptos"/>
              </a:rPr>
              <a:t>TS-iPASS streamlines industrial approvals through a single-window approach, time-bound clearances and self-certification mechanisms.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85232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3-SLIDE CASE STUDY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594360"/>
            <a:ext cx="4023360" cy="5440680"/>
          </a:xfrm>
          <a:prstGeom prst="roundRect">
            <a:avLst>
              <a:gd name="adj" fmla="val 12000"/>
            </a:avLst>
          </a:prstGeom>
          <a:solidFill>
            <a:srgbClr val="1B2B40"/>
          </a:solidFill>
          <a:ln>
            <a:solidFill>
              <a:srgbClr val="1B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83879" y="1325880"/>
            <a:ext cx="1188720" cy="1828800"/>
          </a:xfrm>
          <a:prstGeom prst="roundRect">
            <a:avLst>
              <a:gd name="adj" fmla="val 12000"/>
            </a:avLst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01368"/>
            <a:ext cx="914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>
                <a:solidFill>
                  <a:srgbClr val="0A1320"/>
                </a:solidFill>
                <a:latin typeface="Aptos Display"/>
              </a:rPr>
              <a:t>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221991"/>
            <a:ext cx="1051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0A1320"/>
                </a:solidFill>
                <a:latin typeface="Aptos Display"/>
              </a:rPr>
              <a:t>iPASS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155448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1645920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1975104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AAB8C9"/>
                </a:solidFill>
                <a:latin typeface="Aptos Display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37744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468880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4432" y="2798064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>
                <a:solidFill>
                  <a:srgbClr val="AAB8C9"/>
                </a:solidFill>
                <a:latin typeface="Aptos Display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2004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3291840"/>
            <a:ext cx="1234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069080"/>
            <a:ext cx="3108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 Display"/>
              </a:rPr>
              <a:t>SINGLE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59893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00" b="1">
                <a:solidFill>
                  <a:srgbClr val="AAB8C9"/>
                </a:solidFill>
                <a:latin typeface="Aptos Display"/>
              </a:rPr>
              <a:t>Business Studies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5989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900" b="1">
                <a:solidFill>
                  <a:srgbClr val="AAB8C9"/>
                </a:solidFill>
                <a:latin typeface="Aptos Display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Telangana TS-iPASS official portal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What TS-iPASS is designed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Telangana TS-iPASS official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" y="1801368"/>
            <a:ext cx="411480" cy="411480"/>
          </a:xfrm>
          <a:prstGeom prst="ellipse">
            <a:avLst/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196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 Display"/>
              </a:rPr>
              <a:t>SINGLE-WINDOW CLEARANCE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58568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19" b="0">
                <a:solidFill>
                  <a:srgbClr val="AAB8C9"/>
                </a:solidFill>
                <a:latin typeface="Aptos"/>
              </a:rPr>
              <a:t>Multiple approvals / clearances can be handled through a common application and single-window mechanism.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1801368"/>
            <a:ext cx="411480" cy="411480"/>
          </a:xfrm>
          <a:prstGeom prst="ellipse">
            <a:avLst/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196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 Display"/>
              </a:rPr>
              <a:t>TIME-BOUND APPROVALS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258568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19" b="0">
                <a:solidFill>
                  <a:srgbClr val="AAB8C9"/>
                </a:solidFill>
                <a:latin typeface="Aptos"/>
              </a:rPr>
              <a:t>The system works with prescribed timelines and, in the wider single-window framework, deemed-approval provisions.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93608" y="1801368"/>
            <a:ext cx="411480" cy="411480"/>
          </a:xfrm>
          <a:prstGeom prst="ellipse">
            <a:avLst/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8196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17830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 Display"/>
              </a:rPr>
              <a:t>SELF-CERTIFICATION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58568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19" b="0">
                <a:solidFill>
                  <a:srgbClr val="AAB8C9"/>
                </a:solidFill>
                <a:latin typeface="Aptos"/>
              </a:rPr>
              <a:t>Eligible applicants can use self-certification for specified requirements.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" y="3858768"/>
            <a:ext cx="411480" cy="411480"/>
          </a:xfrm>
          <a:prstGeom prst="ellipse">
            <a:avLst/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877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 Display"/>
              </a:rPr>
              <a:t>TRANSPARENCY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15968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19" b="0">
                <a:solidFill>
                  <a:srgbClr val="AAB8C9"/>
                </a:solidFill>
                <a:latin typeface="Aptos"/>
              </a:rPr>
              <a:t>Digital processing can make application status and workflows easier to monitor.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90288" y="3858768"/>
            <a:ext cx="411480" cy="411480"/>
          </a:xfrm>
          <a:prstGeom prst="ellipse">
            <a:avLst/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877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 Display"/>
              </a:rPr>
              <a:t>INVESTOR-FRIENDLY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315968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19" b="0">
                <a:solidFill>
                  <a:srgbClr val="AAB8C9"/>
                </a:solidFill>
                <a:latin typeface="Aptos"/>
              </a:rPr>
              <a:t>Simplified procedures aim to reduce administrative friction for industrial projects.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657600"/>
            <a:ext cx="3337560" cy="173736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93608" y="3858768"/>
            <a:ext cx="411480" cy="411480"/>
          </a:xfrm>
          <a:prstGeom prst="ellipse">
            <a:avLst/>
          </a:prstGeom>
          <a:solidFill>
            <a:srgbClr val="F66969"/>
          </a:solidFill>
          <a:ln>
            <a:solidFill>
              <a:srgbClr val="F6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3877056"/>
            <a:ext cx="411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900" b="1">
                <a:solidFill>
                  <a:srgbClr val="0A1320"/>
                </a:solidFill>
                <a:latin typeface="Aptos Display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2248" y="3840480"/>
            <a:ext cx="2240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20" b="1">
                <a:solidFill>
                  <a:srgbClr val="F5F8FC"/>
                </a:solidFill>
                <a:latin typeface="Aptos Display"/>
              </a:rPr>
              <a:t>EMPLOYMENT &amp; INVESTMENT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15968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19" b="0">
                <a:solidFill>
                  <a:srgbClr val="AAB8C9"/>
                </a:solidFill>
                <a:latin typeface="Aptos"/>
              </a:rPr>
              <a:t>Faster project setup can support investment, industrial activity and job creation.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>
                <a:solidFill>
                  <a:srgbClr val="2DCDB5"/>
                </a:solidFill>
                <a:latin typeface="Aptos Display"/>
              </a:rPr>
              <a:t>TOPIC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241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 Display"/>
              </a:rPr>
              <a:t>How TS-iPASS can support industrial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9260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1000" b="1">
                <a:solidFill>
                  <a:srgbClr val="AAB8C9"/>
                </a:solidFill>
                <a:latin typeface="Aptos Display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71016"/>
            <a:ext cx="914400" cy="45720"/>
          </a:xfrm>
          <a:prstGeom prst="rect">
            <a:avLst/>
          </a:prstGeom>
          <a:solidFill>
            <a:srgbClr val="2DC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3200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1">
                <a:solidFill>
                  <a:srgbClr val="AAB8C9"/>
                </a:solidFill>
                <a:latin typeface="Aptos Display"/>
              </a:rPr>
              <a:t>BUSINESS STUDIES  •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92240"/>
            <a:ext cx="5212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730" b="0">
                <a:solidFill>
                  <a:srgbClr val="AAB8C9"/>
                </a:solidFill>
                <a:latin typeface="Aptos"/>
              </a:rPr>
              <a:t>Source: Telangana TS-iPASS official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5297FF"/>
          </a:solidFill>
          <a:ln>
            <a:solidFill>
              <a:srgbClr val="52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029968"/>
            <a:ext cx="16824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PROJECT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1975104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6" y="182880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2DCDB5"/>
          </a:solidFill>
          <a:ln>
            <a:solidFill>
              <a:srgbClr val="2D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2029968"/>
            <a:ext cx="16824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COMMON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975104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82880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FFA652"/>
          </a:solidFill>
          <a:ln>
            <a:solidFill>
              <a:srgbClr val="FFA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029968"/>
            <a:ext cx="16824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75104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34072" y="182880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A177FF"/>
          </a:solidFill>
          <a:ln>
            <a:solidFill>
              <a:srgbClr val="A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7224" y="2029968"/>
            <a:ext cx="16824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SET-UP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1975104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 Display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82880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64D289"/>
          </a:solidFill>
          <a:ln>
            <a:solidFill>
              <a:srgbClr val="64D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2029968"/>
            <a:ext cx="16824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000" b="1">
                <a:solidFill>
                  <a:srgbClr val="0A1320"/>
                </a:solidFill>
                <a:latin typeface="Aptos Display"/>
              </a:rPr>
              <a:t>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246120"/>
            <a:ext cx="10058400" cy="1828800"/>
          </a:xfrm>
          <a:prstGeom prst="roundRect">
            <a:avLst>
              <a:gd name="adj" fmla="val 12000"/>
            </a:avLst>
          </a:prstGeom>
          <a:solidFill>
            <a:srgbClr val="152234"/>
          </a:solidFill>
          <a:ln>
            <a:solidFill>
              <a:srgbClr val="15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52044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>
                <a:solidFill>
                  <a:srgbClr val="2DCDB5"/>
                </a:solidFill>
                <a:latin typeface="Aptos Display"/>
              </a:rPr>
              <a:t>Potential business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977639"/>
            <a:ext cx="9326880" cy="868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• Lower procedural friction can make project planning more predictable.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• Industrial projects can create direct jobs and supporting economic activity.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220">
                <a:solidFill>
                  <a:srgbClr val="F5F8FC"/>
                </a:solidFill>
                <a:latin typeface="Aptos"/>
              </a:defRPr>
            </a:pPr>
            <a:r>
              <a:t>• Single-window processing can improve the investor experience while keeping regulatory approvals in the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